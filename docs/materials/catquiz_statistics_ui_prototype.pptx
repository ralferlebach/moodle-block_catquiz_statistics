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Titel-Folie. Das Prototype-Deck zeigt 5 UI-Oberflächen mit klickbarer Navigation.
In Slideshow-Modus (F5) sind alle Hyperlinks aktiv.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Navigations-Hub. Alle sechs Karten sind klickbar. Die untere rechte Karte ('Testverlauf') ist Phase 2 und verlinkt zurück auf den Kursbericht als Platzhalter.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Block im Kurs
Zwei Einstiegspunkte für den Bericht:
1. Block-Widget in der Seitenleiste ('Bericht öffnen', 'Systemweiter Bericht')
2. 'Berichte'-Tab im Kurs-Header — ergänzt durch lib.php-Callback
'Bericht öffnen' und 'Öffnen →' verlinken auf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Kursbericht — Testergebnisse (report.php)
Elemente: Filterleiste, 4 KPI-Karten, Versuchs-Tabelle, Paginierung.
'⬇ Export …' verlinkt auf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Admin-Einstellungen (settings.php)
4 Einstellungen:
1. Standard-Exportformat — Dropdown (CSV aktiv)
2. Max. Tabellenblätter — Zahleneingabe (50)
3. Question-Engine-Daten — Checkbox (aktiviert)
4. Lernangebotsnutzung — Checkbox (deaktiviert, Datenschutzhinweis)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Export-Optionen
Links: Formatauswahl (CSV/JSON/XLSX/ODS) mit Radio-Buttons. XLSX aktiv.
Rechts: Vorschau der 8-Blatt-Arbeitsmappe mit Spaltenkopf-Preview und Blatt-Tabs.
8 Blätter: attempts_raw, attempts_wide, scale_summary, subscale_scores, subscale_se, subscale_n, subscale_frac,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Systemweiter Admin-Bericht (adminreport.php)
Nur zugänglich für: block/catquiz_statistics:viewall + local/catquiz:canmanage.
Aktueller Stub: KPI-Karten + Filterleiste.
Phase 3: Item-Analyse (IRT), Antwortanalyse, kursübergreifende Testergebnisse, großer Export über Adhoc-Task.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4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371600" cy="1371600"/>
          </a:xfrm>
          <a:prstGeom prst="ellipse">
            <a:avLst/>
          </a:prstGeom>
          <a:solidFill>
            <a:srgbClr val="0D7284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85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📊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057400" y="5943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Quiz Statistik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057400" y="141732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UI Prototype  ·  Oberflächen &amp; Navigation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57400" y="187452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block_catquiz_statistics  ·  v0.3 Stub  ·  Moodle 4.5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2286000"/>
            <a:ext cx="6583680" cy="0"/>
          </a:xfrm>
          <a:prstGeom prst="line">
            <a:avLst/>
          </a:prstGeom>
          <a:noFill/>
          <a:ln w="19050">
            <a:solidFill>
              <a:srgbClr val="0D72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2423160"/>
            <a:ext cx="6583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Block-Widget im Kurs  +  Berichte-Tab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Kursbericht — Testergebnisse (Tabelle, Filter, KPIs)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Admin-Einstellungen  (4 Parameter)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Export-Optionen  (CSV · JSON · Excel · ODS · Multi-Sheet)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Systemweiter Admin-Bericht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365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▶  Navigieren  ·  F5 für Vollbild-Modus  ·  Hyperlinks in Slideshow aktiv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Oberflächen-Übersicht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04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eine Karte klicken, um die Ansicht zu öffnen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74320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43584"/>
            <a:ext cx="493776" cy="493776"/>
          </a:xfrm>
          <a:prstGeom prst="ellipse">
            <a:avLst/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4358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" y="12161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im Kurs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in der Seitenleiste,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Berichte-Tab im Kurs-Header</a:t>
            </a:r>
            <a:endParaRPr lang="en-US" sz="105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256032" y="1078992"/>
            <a:ext cx="2743200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078992"/>
            <a:ext cx="274320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2696" y="1243584"/>
            <a:ext cx="493776" cy="493776"/>
          </a:xfrm>
          <a:prstGeom prst="ellipse">
            <a:avLst/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24358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67912" y="12161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Kursbericht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82696" y="182880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Testergebnisse: Filter, Tabelle,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KPI-Karten, Export-Button</a:t>
            </a:r>
            <a:endParaRPr lang="en-US" sz="1050" dirty="0"/>
          </a:p>
        </p:txBody>
      </p:sp>
      <p:sp>
        <p:nvSpPr>
          <p:cNvPr id="15" name="Shape 13">
            <a:hlinkClick r:id="rId2" tooltip="" action="ppaction://hlinksldjump"/>
          </p:cNvPr>
          <p:cNvSpPr/>
          <p:nvPr/>
        </p:nvSpPr>
        <p:spPr>
          <a:xfrm>
            <a:off x="3154680" y="1078992"/>
            <a:ext cx="2743200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078992"/>
            <a:ext cx="274320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243584"/>
            <a:ext cx="493776" cy="493776"/>
          </a:xfrm>
          <a:prstGeom prst="ellipse">
            <a:avLst/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24358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12161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Admin-Einstellungen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72784" y="182880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globale Plugin-Parameter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Moodle-Adminbereich</a:t>
            </a:r>
            <a:endParaRPr lang="en-US" sz="1050" dirty="0"/>
          </a:p>
        </p:txBody>
      </p:sp>
      <p:sp>
        <p:nvSpPr>
          <p:cNvPr id="21" name="Shape 19">
            <a:hlinkClick r:id="rId3" tooltip="" action="ppaction://hlinksldjump"/>
          </p:cNvPr>
          <p:cNvSpPr/>
          <p:nvPr/>
        </p:nvSpPr>
        <p:spPr>
          <a:xfrm>
            <a:off x="6144768" y="1078992"/>
            <a:ext cx="2743200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834640"/>
            <a:ext cx="274320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2999232"/>
            <a:ext cx="493776" cy="493776"/>
          </a:xfrm>
          <a:prstGeom prst="ellipse">
            <a:avLst/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992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9264" y="297180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Export-Optionen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4048" y="358444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Excel · ODS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8-Blatt-Arbeitsmappe Preview</a:t>
            </a:r>
            <a:endParaRPr lang="en-US" sz="1050" dirty="0"/>
          </a:p>
        </p:txBody>
      </p:sp>
      <p:sp>
        <p:nvSpPr>
          <p:cNvPr id="27" name="Shape 25">
            <a:hlinkClick r:id="rId4" tooltip="" action="ppaction://hlinksldjump"/>
          </p:cNvPr>
          <p:cNvSpPr/>
          <p:nvPr/>
        </p:nvSpPr>
        <p:spPr>
          <a:xfrm>
            <a:off x="256032" y="2834640"/>
            <a:ext cx="2743200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2834640"/>
            <a:ext cx="274320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82696" y="2999232"/>
            <a:ext cx="493776" cy="493776"/>
          </a:xfrm>
          <a:prstGeom prst="ellipse">
            <a:avLst/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2696" y="29992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67912" y="297180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Systemweiter Bericht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82696" y="358444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Kursübergreifende Auswertungen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Item-Analyse · Antwortanalyse</a:t>
            </a:r>
            <a:endParaRPr lang="en-US" sz="1050" dirty="0"/>
          </a:p>
        </p:txBody>
      </p:sp>
      <p:sp>
        <p:nvSpPr>
          <p:cNvPr id="33" name="Shape 31">
            <a:hlinkClick r:id="rId5" tooltip="" action="ppaction://hlinksldjump"/>
          </p:cNvPr>
          <p:cNvSpPr/>
          <p:nvPr/>
        </p:nvSpPr>
        <p:spPr>
          <a:xfrm>
            <a:off x="3154680" y="2834640"/>
            <a:ext cx="2743200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2834640"/>
            <a:ext cx="2743200" cy="1536192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72784" y="2999232"/>
            <a:ext cx="493776" cy="49377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29992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927848" y="2926080"/>
            <a:ext cx="841248" cy="246888"/>
          </a:xfrm>
          <a:prstGeom prst="roundRect">
            <a:avLst>
              <a:gd name="adj" fmla="val 1851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27848" y="292608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Phase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297180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Testverlauf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272784" y="358444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Summary pro Versuch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Personenfähigkeits-Trajektorie</a:t>
            </a:r>
            <a:endParaRPr lang="en-US" sz="1050" dirty="0"/>
          </a:p>
        </p:txBody>
      </p:sp>
      <p:sp>
        <p:nvSpPr>
          <p:cNvPr id="41" name="Shape 39">
            <a:hlinkClick r:id="rId6" tooltip="" action="ppaction://hlinksldjump"/>
          </p:cNvPr>
          <p:cNvSpPr/>
          <p:nvPr/>
        </p:nvSpPr>
        <p:spPr>
          <a:xfrm>
            <a:off x="6144768" y="2834640"/>
            <a:ext cx="2743200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6"/>
          <p:cNvSpPr/>
          <p:nvPr/>
        </p:nvSpPr>
        <p:spPr>
          <a:xfrm>
            <a:off x="0" y="941832"/>
            <a:ext cx="6720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02412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517904"/>
            <a:ext cx="6126480" cy="804672"/>
          </a:xfrm>
          <a:prstGeom prst="roundRect">
            <a:avLst>
              <a:gd name="adj" fmla="val 7955"/>
            </a:avLst>
          </a:prstGeom>
          <a:solidFill>
            <a:srgbClr val="F0F9FB"/>
          </a:solidFill>
          <a:ln w="12700">
            <a:solidFill>
              <a:srgbClr val="D4EE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572768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Quiz Statistik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18836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Testergebnisse  ·  Testnutzung  ·  Testverlauf  ·  Export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1691640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1177BB"/>
          </a:solidFill>
          <a:ln w="12700">
            <a:solidFill>
              <a:srgbClr val="1177BB"/>
            </a:solidFill>
            <a:prstDash val="solid"/>
          </a:ln>
        </p:spPr>
      </p:sp>
      <p:sp>
        <p:nvSpPr>
          <p:cNvPr id="25" name="Text 23">
            <a:hlinkClick r:id="rId2" tooltip="" action="ppaction://hlinksldjump"/>
          </p:cNvPr>
          <p:cNvSpPr/>
          <p:nvPr/>
        </p:nvSpPr>
        <p:spPr>
          <a:xfrm>
            <a:off x="5486400" y="16916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Öffnen 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432304"/>
            <a:ext cx="612648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43230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Kursüberblick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761488"/>
            <a:ext cx="612648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7614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Beteiligung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090672"/>
            <a:ext cx="612648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0906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Fortschritt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419856"/>
            <a:ext cx="612648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41985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749040"/>
            <a:ext cx="612648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490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Abschlüsse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941832"/>
            <a:ext cx="2423160" cy="4023360"/>
          </a:xfrm>
          <a:prstGeom prst="rect">
            <a:avLst/>
          </a:prstGeom>
          <a:solidFill>
            <a:srgbClr val="F2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1005840"/>
            <a:ext cx="2240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12280" y="1005840"/>
            <a:ext cx="2240280" cy="34747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Quiz Statistik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1444752"/>
            <a:ext cx="2057400" cy="338328"/>
          </a:xfrm>
          <a:prstGeom prst="roundRect">
            <a:avLst>
              <a:gd name="adj" fmla="val 16216"/>
            </a:avLst>
          </a:prstGeom>
          <a:solidFill>
            <a:srgbClr val="1177BB"/>
          </a:solidFill>
          <a:ln w="12700">
            <a:solidFill>
              <a:srgbClr val="1177BB"/>
            </a:solidFill>
            <a:prstDash val="solid"/>
          </a:ln>
        </p:spPr>
      </p:sp>
      <p:sp>
        <p:nvSpPr>
          <p:cNvPr id="41" name="Text 39">
            <a:hlinkClick r:id="rId3" tooltip="" action="ppaction://hlinksldjump"/>
          </p:cNvPr>
          <p:cNvSpPr/>
          <p:nvPr/>
        </p:nvSpPr>
        <p:spPr>
          <a:xfrm>
            <a:off x="6903720" y="144475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Bericht öffnen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03720" y="1874520"/>
            <a:ext cx="2057400" cy="320040"/>
          </a:xfrm>
          <a:prstGeom prst="roundRect">
            <a:avLst>
              <a:gd name="adj" fmla="val 17143"/>
            </a:avLst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43" name="Text 41">
            <a:hlinkClick r:id="rId4" tooltip="" action="ppaction://hlinksldjump"/>
          </p:cNvPr>
          <p:cNvSpPr/>
          <p:nvPr/>
        </p:nvSpPr>
        <p:spPr>
          <a:xfrm>
            <a:off x="690372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Systemweiter Bericht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2286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nur für Manager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14400" y="4279392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429768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lib.php  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block_catquiz_statistics_extend_navigation_course() ergänzt den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Berichte-Knoten im Kurs-Header automatisch (kein Eingriff in Moodle-Core).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333D"/>
          </a:solidFill>
          <a:ln w="12700">
            <a:solidFill>
              <a:srgbClr val="293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Meine Kurse  ·  Administration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384048"/>
            <a:ext cx="9144000" cy="219456"/>
          </a:xfrm>
          <a:prstGeom prst="rect">
            <a:avLst/>
          </a:prstGeom>
          <a:solidFill>
            <a:srgbClr val="EBF0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/  Adaptive Tests Kurs WS 2025  /  CAT Quiz Statistik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03504"/>
            <a:ext cx="9144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0350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09928" y="603504"/>
            <a:ext cx="1664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Teilnehmer/innen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75304" y="603504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35424" y="603504"/>
            <a:ext cx="1097280" cy="338328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914400"/>
            <a:ext cx="1097280" cy="0"/>
          </a:xfrm>
          <a:prstGeom prst="line">
            <a:avLst/>
          </a:prstGeom>
          <a:noFill/>
          <a:ln w="38100">
            <a:solidFill>
              <a:srgbClr val="1177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60350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88152" y="603504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128016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16" name="Text 14">
            <a:hlinkClick r:id="rId1" tooltip="" action="ppaction://hlinksldjump"/>
          </p:cNvPr>
          <p:cNvSpPr/>
          <p:nvPr/>
        </p:nvSpPr>
        <p:spPr>
          <a:xfrm>
            <a:off x="7543800" y="12801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Übersicht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03504"/>
            <a:ext cx="9144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63093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Quiz Statistik — Kursbericht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67728" y="68580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0D7284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20" name="Text 18">
            <a:hlinkClick r:id="rId2" tooltip="" action="ppaction://hlinksldjump"/>
          </p:cNvPr>
          <p:cNvSpPr/>
          <p:nvPr/>
        </p:nvSpPr>
        <p:spPr>
          <a:xfrm>
            <a:off x="6967728" y="685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⬇  Export 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1078992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1088136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Quiz-Instanz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2880" y="1243584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1243584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Instanzen ▾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20240" y="1088136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20240" y="1243584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5104" y="124358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Skalen ▾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108813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Teststrategie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91840" y="1243584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6704" y="12435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Strategien ▾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108813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83480" y="1243584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38344" y="124358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01.01.2025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108813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09360" y="1243584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124358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31.12.2025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35240" y="1243584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1177BB"/>
          </a:solidFill>
          <a:ln w="12700">
            <a:solidFill>
              <a:srgbClr val="1177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90104" y="124358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1168" y="1645920"/>
            <a:ext cx="2029968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 w="127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2608" y="168249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256032" y="2057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Versuche gesamt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23160" y="1645920"/>
            <a:ext cx="2029968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 w="127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14600" y="168249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2478024" y="2057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PP (global)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45152" y="1645920"/>
            <a:ext cx="2029968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 w="127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36592" y="168249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4700016" y="2057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SE (global)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67144" y="1645920"/>
            <a:ext cx="2029968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 w="127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58584" y="168249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08:24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6922008" y="2057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Testdauer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01168" y="2542032"/>
            <a:ext cx="1783080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688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Teilnehmer/in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984248" y="2542032"/>
            <a:ext cx="1143000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29968" y="2542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27248" y="2542032"/>
            <a:ext cx="1261872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72968" y="2542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389120" y="2542032"/>
            <a:ext cx="1097280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(global)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86400" y="2542032"/>
            <a:ext cx="749808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32120" y="25420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36208" y="2542032"/>
            <a:ext cx="640080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81928" y="2542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76288" y="2542032"/>
            <a:ext cx="914400" cy="2743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22008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01168" y="2816352"/>
            <a:ext cx="17830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" y="2816352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Müller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984248" y="2816352"/>
            <a:ext cx="114300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29968" y="281635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14.03.2025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27248" y="2816352"/>
            <a:ext cx="1261872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72968" y="28163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389120" y="2816352"/>
            <a:ext cx="10972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34840" y="281635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486400" y="2816352"/>
            <a:ext cx="749808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32120" y="2816352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236208" y="2816352"/>
            <a:ext cx="6400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81928" y="2816352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876288" y="2816352"/>
            <a:ext cx="91440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22008" y="281635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01168" y="3081528"/>
            <a:ext cx="1783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6888" y="308152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 Schmidt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984248" y="3081528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29968" y="308152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15.03.2025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127248" y="3081528"/>
            <a:ext cx="126187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72968" y="3081528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389120" y="3081528"/>
            <a:ext cx="10972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34840" y="308152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486400" y="3081528"/>
            <a:ext cx="74980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532120" y="3081528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236208" y="3081528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81928" y="3081528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876288" y="3081528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22008" y="308152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01168" y="3346704"/>
            <a:ext cx="17830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46888" y="3346704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Weber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984248" y="3346704"/>
            <a:ext cx="114300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29968" y="334670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16.03.2025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127248" y="3346704"/>
            <a:ext cx="1261872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72968" y="3346704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Piloten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389120" y="3346704"/>
            <a:ext cx="10972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34840" y="334670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486400" y="3346704"/>
            <a:ext cx="749808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532120" y="3346704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236208" y="3346704"/>
            <a:ext cx="6400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81928" y="3346704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6876288" y="3346704"/>
            <a:ext cx="91440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22008" y="334670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201168" y="3611880"/>
            <a:ext cx="1783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46888" y="36118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 Bauer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1984248" y="3611880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029968" y="361188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16.03.2025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3127248" y="3611880"/>
            <a:ext cx="126187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172968" y="3611880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4389120" y="3611880"/>
            <a:ext cx="10972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434840" y="361188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5486400" y="3611880"/>
            <a:ext cx="74980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32120" y="3611880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6236208" y="3611880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281928" y="3611880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6876288" y="3611880"/>
            <a:ext cx="9144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922008" y="361188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201168" y="3877056"/>
            <a:ext cx="17830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46888" y="3877056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Scholz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1984248" y="3877056"/>
            <a:ext cx="114300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029968" y="387705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17.03.2025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3127248" y="3877056"/>
            <a:ext cx="1261872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172968" y="3877056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4389120" y="3877056"/>
            <a:ext cx="10972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434840" y="387705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5486400" y="3877056"/>
            <a:ext cx="749808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532120" y="387705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6236208" y="3877056"/>
            <a:ext cx="64008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281928" y="3877056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6876288" y="3877056"/>
            <a:ext cx="914400" cy="265176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922008" y="3877056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201168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Zeige 25 von 156 Versuchen  ·  « 1  2  3 … 7 »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333D"/>
          </a:solidFill>
          <a:ln w="12700">
            <a:solidFill>
              <a:srgbClr val="293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Meine Kurse  ·  Administration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384048"/>
            <a:ext cx="9144000" cy="219456"/>
          </a:xfrm>
          <a:prstGeom prst="rect">
            <a:avLst/>
          </a:prstGeom>
          <a:solidFill>
            <a:srgbClr val="EBF0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Website-Administration  /  Plugins  /  Blöcke  /  CAT Quiz Statistik — Einstellungen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43800" y="128016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7543800" y="12801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Übersicht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03504"/>
            <a:ext cx="9144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63093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Admin-Einstellungen — CAT Quiz Statistik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8595360" cy="804672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Standard-Exportformat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1536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das standardmäßig beim Datenexport verwendet wird.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137160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9BBB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371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8595360" cy="804672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121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Tabellenblätter (Workbook-Export)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Maximale Anzahl von Blättern bei XLSX-/ODS-Export. Hohe Werte erhöhen den Speicherbedarf.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06440" y="2258568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9BBB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22585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8595360" cy="804672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083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Question-Engine-Daten aktivieren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310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Zeitstempel- und Antwortdaten aus der Moodle-Question-Engine in Testverlauf und Item-Antwortanalyse einbeziehen.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177BB"/>
          </a:solidFill>
          <a:ln w="12700">
            <a:solidFill>
              <a:srgbClr val="1177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90488" y="31912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Aktiviert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831336"/>
            <a:ext cx="8595360" cy="804672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8953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Lernangebotsnutzung aktivieren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" y="41970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Erfordert explizite Datenschutzgrundlage. Log-Daten werden über die normale Aufbewahrungsfrist hinaus gespeichert. Standardmäßig deaktiviert.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06440" y="40782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9BBB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4078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Deaktiviert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828032"/>
            <a:ext cx="2377440" cy="365760"/>
          </a:xfrm>
          <a:prstGeom prst="roundRect">
            <a:avLst>
              <a:gd name="adj" fmla="val 17500"/>
            </a:avLst>
          </a:prstGeom>
          <a:solidFill>
            <a:srgbClr val="1177BB"/>
          </a:solidFill>
          <a:ln w="12700">
            <a:solidFill>
              <a:srgbClr val="1177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28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speichern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333D"/>
          </a:solidFill>
          <a:ln w="12700">
            <a:solidFill>
              <a:srgbClr val="293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Meine Kurse  ·  Administration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384048"/>
            <a:ext cx="9144000" cy="219456"/>
          </a:xfrm>
          <a:prstGeom prst="rect">
            <a:avLst/>
          </a:prstGeom>
          <a:solidFill>
            <a:srgbClr val="EBF0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/  Adaptive Tests Kurs WS 2025  /  CAT Quiz Statistik  /  Export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43800" y="128016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7543800" y="12801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Übersicht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03504"/>
            <a:ext cx="9144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63093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exportieren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wählen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536192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170992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1572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0392" y="18562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Flache Tabelle · universell · kein Multi-Sheet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238658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0392" y="25328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 · maschinenlesbar · kein Multi-Sheet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EBF5FB"/>
          </a:solidFill>
          <a:ln w="25400">
            <a:solidFill>
              <a:srgbClr val="1177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" y="3063240"/>
            <a:ext cx="219456" cy="219456"/>
          </a:xfrm>
          <a:prstGeom prst="ellipse">
            <a:avLst/>
          </a:prstGeom>
          <a:solidFill>
            <a:srgbClr val="1177BB"/>
          </a:solidFill>
          <a:ln w="12700">
            <a:solidFill>
              <a:srgbClr val="1177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13639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7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(XLSX)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0392" y="32095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Multi-Sheet-Arbeitsmappe · 8 Blätter · bearbeitbar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" y="373989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602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0392" y="3886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Multi-Sheet-Arbeitsmappe · 8 Blätter · Open Source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334256"/>
            <a:ext cx="3977640" cy="402336"/>
          </a:xfrm>
          <a:prstGeom prst="roundRect">
            <a:avLst>
              <a:gd name="adj" fmla="val 18182"/>
            </a:avLst>
          </a:prstGeom>
          <a:solidFill>
            <a:srgbClr val="0D7284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3425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Herunterladen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1188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Multi-Sheet-Vorschau (Excel / ODS)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148132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XLSX/ODS werden 8 Arbeitsblätter exportiert: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783080"/>
            <a:ext cx="4315968" cy="2633472"/>
          </a:xfrm>
          <a:prstGeom prst="roundRect">
            <a:avLst>
              <a:gd name="adj" fmla="val 3125"/>
            </a:avLst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1847088"/>
            <a:ext cx="502920" cy="21945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1847088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09160" y="2066544"/>
            <a:ext cx="502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2066544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212080" y="1847088"/>
            <a:ext cx="868680" cy="21945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1847088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212080" y="2066544"/>
            <a:ext cx="868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2066544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m.müller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080760" y="1847088"/>
            <a:ext cx="548640" cy="21945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9048" y="18470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080760" y="2066544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99048" y="206654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629400" y="1847088"/>
            <a:ext cx="594360" cy="21945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7688" y="1847088"/>
            <a:ext cx="557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pp_global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629400" y="2066544"/>
            <a:ext cx="5943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47688" y="2066544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223760" y="1847088"/>
            <a:ext cx="566928" cy="21945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18470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se_global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223760" y="2066544"/>
            <a:ext cx="56692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2048" y="2066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790688" y="1847088"/>
            <a:ext cx="502920" cy="21945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08976" y="1847088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790688" y="2066544"/>
            <a:ext cx="502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08976" y="2066544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293608" y="1847088"/>
            <a:ext cx="640080" cy="219456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11896" y="184708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scale_1_pp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293608" y="2066544"/>
            <a:ext cx="640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11896" y="206654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951976" y="1847088"/>
            <a:ext cx="182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…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736592" y="23408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992624" y="23408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attempts_raw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510528" y="2340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Rohspalten, 1:1 aus DB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736592" y="25877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2.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992624" y="2587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attempts_wide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510528" y="2587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Flat/Wide inkl. dynamischer Subskalen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736592" y="28346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92624" y="28346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scale_summary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510528" y="28346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Deskriptivstatistik pro Skala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736592" y="30815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992624" y="30815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subscale_scores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510528" y="3081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PP-Matrix Teilnehmer × Subskala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736592" y="33284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5.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992624" y="33284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subscale_se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510528" y="3328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SE-Matrix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736592" y="35753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6.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992624" y="35753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subscale_n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510528" y="35753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N-Fragen-Matrix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736592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7.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992624" y="38221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subscale_frac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510528" y="38221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Fraction-Matrix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736592" y="406908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8.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992624" y="4069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510528" y="4069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Plugin-Version, Filter, Exportdatum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663440" y="4078224"/>
            <a:ext cx="4315968" cy="320040"/>
          </a:xfrm>
          <a:prstGeom prst="rect">
            <a:avLst/>
          </a:prstGeom>
          <a:solidFill>
            <a:srgbClr val="E0EA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0016" y="4078224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77B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27448" y="407822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7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attempts_raw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541264" y="4078224"/>
            <a:ext cx="822960" cy="320040"/>
          </a:xfrm>
          <a:prstGeom prst="rect">
            <a:avLst/>
          </a:prstGeom>
          <a:solidFill>
            <a:srgbClr val="E0EA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68696" y="407822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attempts_wide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382512" y="4078224"/>
            <a:ext cx="822960" cy="320040"/>
          </a:xfrm>
          <a:prstGeom prst="rect">
            <a:avLst/>
          </a:prstGeom>
          <a:solidFill>
            <a:srgbClr val="E0EA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09944" y="407822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scale_summary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7223760" y="4078224"/>
            <a:ext cx="502920" cy="320040"/>
          </a:xfrm>
          <a:prstGeom prst="rect">
            <a:avLst/>
          </a:prstGeom>
          <a:solidFill>
            <a:srgbClr val="E0EA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51192" y="4078224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…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333D"/>
          </a:solidFill>
          <a:ln w="12700">
            <a:solidFill>
              <a:srgbClr val="293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Meine Kurse  ·  Administration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384048"/>
            <a:ext cx="9144000" cy="219456"/>
          </a:xfrm>
          <a:prstGeom prst="rect">
            <a:avLst/>
          </a:prstGeom>
          <a:solidFill>
            <a:srgbClr val="EBF0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Website-Administration  /  Berichte  /  CAT Quiz Statistik (systemweit)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43800" y="128016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7543800" y="12801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Übersicht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03504"/>
            <a:ext cx="9144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63093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Quiz Statistik — Systemweiter Bericht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05472" y="694944"/>
            <a:ext cx="1664208" cy="292608"/>
          </a:xfrm>
          <a:prstGeom prst="roundRect">
            <a:avLst>
              <a:gd name="adj" fmla="val 18750"/>
            </a:avLst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6949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🔒  Manager only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1078992"/>
            <a:ext cx="9144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088136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2880" y="1243584"/>
            <a:ext cx="16916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24358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Alle Kurse ▾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1088136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Quiz-Instanz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11680" y="1243584"/>
            <a:ext cx="173736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124358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Alle Instanzen ▾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86200" y="108813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86200" y="1243584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41064" y="124358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Globalskala ▾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0680" y="1088136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40680" y="1243584"/>
            <a:ext cx="16916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5544" y="124358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Aktuelles Semester ▾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69480" y="124358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1177BB"/>
          </a:solidFill>
          <a:ln w="12700">
            <a:solidFill>
              <a:srgbClr val="1177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12435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Suchen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1609344"/>
            <a:ext cx="2029968" cy="749808"/>
          </a:xfrm>
          <a:prstGeom prst="roundRect">
            <a:avLst>
              <a:gd name="adj" fmla="val 10976"/>
            </a:avLst>
          </a:prstGeom>
          <a:solidFill>
            <a:srgbClr val="F8FAFC"/>
          </a:solidFill>
          <a:ln w="127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2608" y="16459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56032" y="198424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23160" y="1609344"/>
            <a:ext cx="2029968" cy="749808"/>
          </a:xfrm>
          <a:prstGeom prst="roundRect">
            <a:avLst>
              <a:gd name="adj" fmla="val 10976"/>
            </a:avLst>
          </a:prstGeom>
          <a:solidFill>
            <a:srgbClr val="F8FAFC"/>
          </a:solidFill>
          <a:ln w="127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14600" y="16459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7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2478024" y="198424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Quiz-Instanzen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45152" y="1609344"/>
            <a:ext cx="2029968" cy="749808"/>
          </a:xfrm>
          <a:prstGeom prst="roundRect">
            <a:avLst>
              <a:gd name="adj" fmla="val 10976"/>
            </a:avLst>
          </a:prstGeom>
          <a:solidFill>
            <a:srgbClr val="F8FAFC"/>
          </a:solidFill>
          <a:ln w="127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36592" y="16459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2.847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700016" y="198424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Versuche gesamt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67144" y="1609344"/>
            <a:ext cx="2029968" cy="749808"/>
          </a:xfrm>
          <a:prstGeom prst="roundRect">
            <a:avLst>
              <a:gd name="adj" fmla="val 10976"/>
            </a:avLst>
          </a:prstGeom>
          <a:solidFill>
            <a:srgbClr val="F8FAFC"/>
          </a:solidFill>
          <a:ln w="12700">
            <a:solidFill>
              <a:srgbClr val="D4EE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58584" y="16459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922008" y="198424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PP (systemweit)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" y="2487168"/>
            <a:ext cx="4297680" cy="877824"/>
          </a:xfrm>
          <a:prstGeom prst="roundRect">
            <a:avLst>
              <a:gd name="adj" fmla="val 937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2578608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3694176" y="2569464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94176" y="25694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Phase 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68680" y="2578608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Item-Analyse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68680" y="2916936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Schwierigkeit · Trennschärfe · Guessing (IRT)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45152" y="2487168"/>
            <a:ext cx="4297680" cy="877824"/>
          </a:xfrm>
          <a:prstGeom prst="roundRect">
            <a:avLst>
              <a:gd name="adj" fmla="val 937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578608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8138160" y="2569464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25694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Phase 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312664" y="2578608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Antwortanalyse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312664" y="2916936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Distraktor-Häufigkeiten · Korrektheit · Zeitverlauf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01168" y="3566160"/>
            <a:ext cx="4297680" cy="877824"/>
          </a:xfrm>
          <a:prstGeom prst="roundRect">
            <a:avLst>
              <a:gd name="adj" fmla="val 9375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" y="365760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68680" y="3657600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Kursübergreifende Testergebnisse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68680" y="399592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Personenfähigkeit über alle Kurse · Reliable Change Index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45152" y="3566160"/>
            <a:ext cx="4297680" cy="877824"/>
          </a:xfrm>
          <a:prstGeom prst="roundRect">
            <a:avLst>
              <a:gd name="adj" fmla="val 9375"/>
            </a:avLst>
          </a:prstGeom>
          <a:solidFill>
            <a:srgbClr val="D4EEF3"/>
          </a:solidFill>
          <a:ln w="12700">
            <a:solidFill>
              <a:srgbClr val="0D728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65760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5312664" y="3657600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Systemweiter Export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312664" y="399592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Kurse als XLSX · Adhoc-Task für große Datensätze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01168" y="4690872"/>
            <a:ext cx="8741664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69087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Berechtigung: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block/catquiz_statistics:viewall  +  local/catquiz:canmanage  (Systemkontext)  —  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Manager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 Quiz Statistik — UI Prototype v0.3</dc:title>
  <dc:subject>PptxGenJS Presentation</dc:subject>
  <dc:creator>Ralf Erlebach</dc:creator>
  <cp:lastModifiedBy>Ralf Erlebach</cp:lastModifiedBy>
  <cp:revision>1</cp:revision>
  <dcterms:created xsi:type="dcterms:W3CDTF">2026-06-17T12:12:11Z</dcterms:created>
  <dcterms:modified xsi:type="dcterms:W3CDTF">2026-06-17T12:12:11Z</dcterms:modified>
</cp:coreProperties>
</file>